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43891200" cy="32918400"/>
  <p:notesSz cx="6881495"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2"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008" autoAdjust="0"/>
    <p:restoredTop sz="94676" autoAdjust="0"/>
  </p:normalViewPr>
  <p:slideViewPr>
    <p:cSldViewPr showGuides="1">
      <p:cViewPr varScale="1">
        <p:scale>
          <a:sx n="33" d="100"/>
          <a:sy n="33" d="100"/>
        </p:scale>
        <p:origin x="2344" y="320"/>
      </p:cViewPr>
      <p:guideLst>
        <p:guide orient="horz" pos="10362"/>
        <p:guide pos="1382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985D6BDF-9D0E-4E2B-85B8-D8F4790360C9}" type="datetimeFigureOut">
              <a:rPr lang="en-US" smtClean="0"/>
            </a:fld>
            <a:endParaRPr lang="en-US" dirty="0"/>
          </a:p>
        </p:txBody>
      </p:sp>
      <p:sp>
        <p:nvSpPr>
          <p:cNvPr id="5" name="Footer Placeholder 4"/>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FBB075EA-769C-4ECD-B48E-D6FCDC24F876}" type="slidenum">
              <a:rPr lang="en-US" smtClean="0"/>
            </a:fld>
            <a:endParaRPr lang="en-US" dirty="0"/>
          </a:p>
        </p:txBody>
      </p:sp>
      <p:sp>
        <p:nvSpPr>
          <p:cNvPr id="7" name="Rectangle 6"/>
          <p:cNvSpPr/>
          <p:nvPr userDrawn="1"/>
        </p:nvSpPr>
        <p:spPr>
          <a:xfrm>
            <a:off x="4315968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8" name="Rectangle 7"/>
          <p:cNvSpPr/>
          <p:nvPr userDrawn="1"/>
        </p:nvSpPr>
        <p:spPr>
          <a:xfrm>
            <a:off x="-3"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9" name="Rectangle 8"/>
          <p:cNvSpPr/>
          <p:nvPr userDrawn="1"/>
        </p:nvSpPr>
        <p:spPr>
          <a:xfrm>
            <a:off x="0" y="0"/>
            <a:ext cx="438912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0" name="Rectangle 9"/>
          <p:cNvSpPr/>
          <p:nvPr userDrawn="1"/>
        </p:nvSpPr>
        <p:spPr>
          <a:xfrm>
            <a:off x="0" y="28803600"/>
            <a:ext cx="438912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1" name="Instructions"/>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10" rtl="0" eaLnBrk="1" latinLnBrk="0" hangingPunct="1">
              <a:defRPr sz="7260" kern="1200">
                <a:solidFill>
                  <a:schemeClr val="lt1"/>
                </a:solidFill>
                <a:latin typeface="+mn-lt"/>
                <a:ea typeface="+mn-ea"/>
                <a:cs typeface="+mn-cs"/>
              </a:defRPr>
            </a:lvl1pPr>
            <a:lvl2pPr marL="1843405" algn="l" defTabSz="3686810" rtl="0" eaLnBrk="1" latinLnBrk="0" hangingPunct="1">
              <a:defRPr sz="7260" kern="1200">
                <a:solidFill>
                  <a:schemeClr val="lt1"/>
                </a:solidFill>
                <a:latin typeface="+mn-lt"/>
                <a:ea typeface="+mn-ea"/>
                <a:cs typeface="+mn-cs"/>
              </a:defRPr>
            </a:lvl2pPr>
            <a:lvl3pPr marL="3686810" algn="l" defTabSz="3686810" rtl="0" eaLnBrk="1" latinLnBrk="0" hangingPunct="1">
              <a:defRPr sz="7260" kern="1200">
                <a:solidFill>
                  <a:schemeClr val="lt1"/>
                </a:solidFill>
                <a:latin typeface="+mn-lt"/>
                <a:ea typeface="+mn-ea"/>
                <a:cs typeface="+mn-cs"/>
              </a:defRPr>
            </a:lvl3pPr>
            <a:lvl4pPr marL="5530215" algn="l" defTabSz="3686810" rtl="0" eaLnBrk="1" latinLnBrk="0" hangingPunct="1">
              <a:defRPr sz="7260" kern="1200">
                <a:solidFill>
                  <a:schemeClr val="lt1"/>
                </a:solidFill>
                <a:latin typeface="+mn-lt"/>
                <a:ea typeface="+mn-ea"/>
                <a:cs typeface="+mn-cs"/>
              </a:defRPr>
            </a:lvl4pPr>
            <a:lvl5pPr marL="7373620" algn="l" defTabSz="3686810" rtl="0" eaLnBrk="1" latinLnBrk="0" hangingPunct="1">
              <a:defRPr sz="7260" kern="1200">
                <a:solidFill>
                  <a:schemeClr val="lt1"/>
                </a:solidFill>
                <a:latin typeface="+mn-lt"/>
                <a:ea typeface="+mn-ea"/>
                <a:cs typeface="+mn-cs"/>
              </a:defRPr>
            </a:lvl5pPr>
            <a:lvl6pPr marL="9217025" algn="l" defTabSz="3686810" rtl="0" eaLnBrk="1" latinLnBrk="0" hangingPunct="1">
              <a:defRPr sz="7260" kern="1200">
                <a:solidFill>
                  <a:schemeClr val="lt1"/>
                </a:solidFill>
                <a:latin typeface="+mn-lt"/>
                <a:ea typeface="+mn-ea"/>
                <a:cs typeface="+mn-cs"/>
              </a:defRPr>
            </a:lvl6pPr>
            <a:lvl7pPr marL="11060430" algn="l" defTabSz="3686810" rtl="0" eaLnBrk="1" latinLnBrk="0" hangingPunct="1">
              <a:defRPr sz="7260" kern="1200">
                <a:solidFill>
                  <a:schemeClr val="lt1"/>
                </a:solidFill>
                <a:latin typeface="+mn-lt"/>
                <a:ea typeface="+mn-ea"/>
                <a:cs typeface="+mn-cs"/>
              </a:defRPr>
            </a:lvl7pPr>
            <a:lvl8pPr marL="12903835" algn="l" defTabSz="3686810" rtl="0" eaLnBrk="1" latinLnBrk="0" hangingPunct="1">
              <a:defRPr sz="7260" kern="1200">
                <a:solidFill>
                  <a:schemeClr val="lt1"/>
                </a:solidFill>
                <a:latin typeface="+mn-lt"/>
                <a:ea typeface="+mn-ea"/>
                <a:cs typeface="+mn-cs"/>
              </a:defRPr>
            </a:lvl8pPr>
            <a:lvl9pPr marL="14747240" algn="l" defTabSz="3686810" rtl="0" eaLnBrk="1" latinLnBrk="0" hangingPunct="1">
              <a:defRPr sz="7260" kern="1200">
                <a:solidFill>
                  <a:schemeClr val="lt1"/>
                </a:solidFill>
                <a:latin typeface="+mn-lt"/>
                <a:ea typeface="+mn-ea"/>
                <a:cs typeface="+mn-cs"/>
              </a:defRPr>
            </a:lvl9pPr>
          </a:lstStyle>
          <a:p>
            <a:pPr lvl="0">
              <a:spcBef>
                <a:spcPts val="0"/>
              </a:spcBef>
              <a:spcAft>
                <a:spcPts val="1800"/>
              </a:spcAft>
            </a:pPr>
            <a:r>
              <a:rPr lang="en-US" sz="7200" dirty="0">
                <a:solidFill>
                  <a:srgbClr val="7F7F7F"/>
                </a:solidFill>
                <a:latin typeface="Calibri" panose="020F0502020204030204" pitchFamily="34" charset="0"/>
                <a:cs typeface="Calibri" panose="020F0502020204030204" pitchFamily="34" charset="0"/>
              </a:rPr>
              <a:t>Poster Print Size:</a:t>
            </a:r>
            <a:endParaRPr sz="720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anose="020F0502020204030204" pitchFamily="34" charset="0"/>
                <a:cs typeface="Calibri" panose="020F0502020204030204" pitchFamily="34" charset="0"/>
              </a:rPr>
              <a:t>This poster template is 36” high by 48” wide. It can be used to print any poster with a 3:4 aspect ratio.</a:t>
            </a:r>
            <a:endParaRPr lang="en-US" sz="490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lang="en-US" sz="7200" dirty="0">
                <a:solidFill>
                  <a:srgbClr val="7F7F7F"/>
                </a:solidFill>
                <a:latin typeface="Calibri" panose="020F0502020204030204" pitchFamily="34" charset="0"/>
                <a:cs typeface="Calibri" panose="020F0502020204030204" pitchFamily="34" charset="0"/>
              </a:rPr>
              <a:t>Placeholders</a:t>
            </a:r>
            <a:r>
              <a:rPr sz="7200" dirty="0">
                <a:solidFill>
                  <a:srgbClr val="7F7F7F"/>
                </a:solidFill>
                <a:latin typeface="Calibri" panose="020F0502020204030204" pitchFamily="34" charset="0"/>
                <a:cs typeface="Calibri" panose="020F0502020204030204" pitchFamily="34" charset="0"/>
              </a:rPr>
              <a:t>:</a:t>
            </a:r>
            <a:endParaRPr sz="720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sz="4900" dirty="0">
                <a:solidFill>
                  <a:srgbClr val="7F7F7F"/>
                </a:solidFill>
                <a:latin typeface="Calibri" panose="020F0502020204030204" pitchFamily="34" charset="0"/>
                <a:cs typeface="Calibri" panose="020F0502020204030204" pitchFamily="34" charset="0"/>
              </a:rPr>
              <a:t>The </a:t>
            </a:r>
            <a:r>
              <a:rPr lang="en-US" sz="4900" dirty="0">
                <a:solidFill>
                  <a:srgbClr val="7F7F7F"/>
                </a:solidFill>
                <a:latin typeface="Calibri" panose="020F0502020204030204" pitchFamily="34" charset="0"/>
                <a:cs typeface="Calibri" panose="020F0502020204030204" pitchFamily="34" charset="0"/>
              </a:rPr>
              <a:t>various elements included</a:t>
            </a:r>
            <a:r>
              <a:rPr sz="4900" dirty="0">
                <a:solidFill>
                  <a:srgbClr val="7F7F7F"/>
                </a:solidFill>
                <a:latin typeface="Calibri" panose="020F0502020204030204" pitchFamily="34" charset="0"/>
                <a:cs typeface="Calibri" panose="020F0502020204030204" pitchFamily="34" charset="0"/>
              </a:rPr>
              <a:t> in this </a:t>
            </a:r>
            <a:r>
              <a:rPr lang="en-US" sz="4900" dirty="0">
                <a:solidFill>
                  <a:srgbClr val="7F7F7F"/>
                </a:solidFill>
                <a:latin typeface="Calibri" panose="020F0502020204030204" pitchFamily="34" charset="0"/>
                <a:cs typeface="Calibri" panose="020F0502020204030204" pitchFamily="34" charset="0"/>
              </a:rPr>
              <a:t>poster are ones</a:t>
            </a:r>
            <a:r>
              <a:rPr lang="en-US" sz="4900" baseline="0" dirty="0">
                <a:solidFill>
                  <a:srgbClr val="7F7F7F"/>
                </a:solidFill>
                <a:latin typeface="Calibri" panose="020F0502020204030204" pitchFamily="34" charset="0"/>
                <a:cs typeface="Calibri" panose="020F0502020204030204" pitchFamily="34" charset="0"/>
              </a:rPr>
              <a:t> we often see in medical, research, and scientific posters.</a:t>
            </a:r>
            <a:r>
              <a:rPr sz="4900" dirty="0">
                <a:solidFill>
                  <a:srgbClr val="7F7F7F"/>
                </a:solidFill>
                <a:latin typeface="Calibri" panose="020F0502020204030204" pitchFamily="34" charset="0"/>
                <a:cs typeface="Calibri" panose="020F0502020204030204" pitchFamily="34" charset="0"/>
              </a:rPr>
              <a:t> </a:t>
            </a:r>
            <a:r>
              <a:rPr lang="en-US" sz="4900" dirty="0">
                <a:solidFill>
                  <a:srgbClr val="7F7F7F"/>
                </a:solidFill>
                <a:latin typeface="Calibri" panose="020F0502020204030204" pitchFamily="34" charset="0"/>
                <a:cs typeface="Calibri" panose="020F0502020204030204" pitchFamily="34" charset="0"/>
              </a:rPr>
              <a:t>Feel</a:t>
            </a:r>
            <a:r>
              <a:rPr lang="en-US" sz="4900" baseline="0" dirty="0">
                <a:solidFill>
                  <a:srgbClr val="7F7F7F"/>
                </a:solidFill>
                <a:latin typeface="Calibri" panose="020F0502020204030204" pitchFamily="34" charset="0"/>
                <a:cs typeface="Calibri" panose="020F0502020204030204" pitchFamily="34" charset="0"/>
              </a:rPr>
              <a:t> free to edit, move,  add, and delete items, or change the layout to suit your needs. Always check with your conference organizer for specific requirements.</a:t>
            </a:r>
            <a:endParaRPr lang="en-US" sz="4900" baseline="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lang="en-US" sz="7200" dirty="0">
                <a:solidFill>
                  <a:srgbClr val="7F7F7F"/>
                </a:solidFill>
                <a:latin typeface="Calibri" panose="020F0502020204030204" pitchFamily="34" charset="0"/>
                <a:cs typeface="Calibri" panose="020F0502020204030204" pitchFamily="34" charset="0"/>
              </a:rPr>
              <a:t>Image</a:t>
            </a:r>
            <a:r>
              <a:rPr lang="en-US" sz="7200" baseline="0" dirty="0">
                <a:solidFill>
                  <a:srgbClr val="7F7F7F"/>
                </a:solidFill>
                <a:latin typeface="Calibri" panose="020F0502020204030204" pitchFamily="34" charset="0"/>
                <a:cs typeface="Calibri" panose="020F0502020204030204" pitchFamily="34" charset="0"/>
              </a:rPr>
              <a:t> Quality</a:t>
            </a:r>
            <a:r>
              <a:rPr lang="en-US" sz="7200" dirty="0">
                <a:solidFill>
                  <a:srgbClr val="7F7F7F"/>
                </a:solidFill>
                <a:latin typeface="Calibri" panose="020F0502020204030204" pitchFamily="34" charset="0"/>
                <a:cs typeface="Calibri" panose="020F0502020204030204" pitchFamily="34" charset="0"/>
              </a:rPr>
              <a:t>:</a:t>
            </a:r>
            <a:endParaRPr lang="en-US" sz="720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anose="020F0502020204030204" pitchFamily="34" charset="0"/>
                <a:cs typeface="Calibri" panose="020F0502020204030204" pitchFamily="34" charset="0"/>
              </a:rPr>
              <a:t>You can place digital photos or logo art in your poster file by selecting the </a:t>
            </a:r>
            <a:r>
              <a:rPr lang="en-US" sz="4900" b="1" dirty="0">
                <a:solidFill>
                  <a:srgbClr val="7F7F7F"/>
                </a:solidFill>
                <a:latin typeface="Calibri" panose="020F0502020204030204" pitchFamily="34" charset="0"/>
                <a:cs typeface="Calibri" panose="020F0502020204030204" pitchFamily="34" charset="0"/>
              </a:rPr>
              <a:t>Insert, Picture</a:t>
            </a:r>
            <a:r>
              <a:rPr lang="en-US" sz="4900" dirty="0">
                <a:solidFill>
                  <a:srgbClr val="7F7F7F"/>
                </a:solidFill>
                <a:latin typeface="Calibri" panose="020F0502020204030204" pitchFamily="34" charset="0"/>
                <a:cs typeface="Calibri" panose="020F0502020204030204" pitchFamily="34" charset="0"/>
              </a:rPr>
              <a:t> command, or by using standard copy &amp; paste. For best results, all graphic elements should be at least </a:t>
            </a:r>
            <a:r>
              <a:rPr lang="en-US" sz="4900" b="1" dirty="0">
                <a:solidFill>
                  <a:srgbClr val="7F7F7F"/>
                </a:solidFill>
                <a:latin typeface="Calibri" panose="020F0502020204030204" pitchFamily="34" charset="0"/>
                <a:cs typeface="Calibri" panose="020F0502020204030204" pitchFamily="34" charset="0"/>
              </a:rPr>
              <a:t>150-200 pixels per inch in their final printed size</a:t>
            </a:r>
            <a:r>
              <a:rPr lang="en-US" sz="4900" dirty="0">
                <a:solidFill>
                  <a:srgbClr val="7F7F7F"/>
                </a:solidFill>
                <a:latin typeface="Calibri" panose="020F0502020204030204" pitchFamily="34" charset="0"/>
                <a:cs typeface="Calibri" panose="020F0502020204030204" pitchFamily="34" charset="0"/>
              </a:rPr>
              <a:t>. For instance, a 1600 x 1200 pixel</a:t>
            </a:r>
            <a:r>
              <a:rPr lang="en-US" sz="4900" baseline="0" dirty="0">
                <a:solidFill>
                  <a:srgbClr val="7F7F7F"/>
                </a:solidFill>
                <a:latin typeface="Calibri" panose="020F0502020204030204" pitchFamily="34" charset="0"/>
                <a:cs typeface="Calibri" panose="020F0502020204030204" pitchFamily="34" charset="0"/>
              </a:rPr>
              <a:t> photo will usually look fine up to </a:t>
            </a:r>
            <a:r>
              <a:rPr lang="en-US" sz="4900" dirty="0">
                <a:solidFill>
                  <a:srgbClr val="7F7F7F"/>
                </a:solidFill>
                <a:latin typeface="Calibri" panose="020F0502020204030204" pitchFamily="34" charset="0"/>
                <a:cs typeface="Calibri" panose="020F0502020204030204" pitchFamily="34" charset="0"/>
              </a:rPr>
              <a:t>8“-10” wide on your printed poster.</a:t>
            </a:r>
            <a:endParaRPr lang="en-US" sz="490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anose="020F0502020204030204"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lang="en-US" sz="4900" dirty="0">
              <a:solidFill>
                <a:srgbClr val="7F7F7F"/>
              </a:solidFill>
              <a:latin typeface="Calibri" panose="020F0502020204030204"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anose="020F0502020204030204" pitchFamily="34" charset="0"/>
                <a:cs typeface="Calibri" panose="020F0502020204030204" pitchFamily="34" charset="0"/>
              </a:rPr>
              <a:t>Please note that graphics from websites (such as the logo on your hospital's or university's home page) will only be 72dpi and not suitable for printing.</a:t>
            </a:r>
            <a:endParaRPr lang="en-US" sz="4900" dirty="0">
              <a:solidFill>
                <a:srgbClr val="7F7F7F"/>
              </a:solidFill>
              <a:latin typeface="Calibri" panose="020F0502020204030204" pitchFamily="34" charset="0"/>
              <a:cs typeface="Calibri" panose="020F0502020204030204" pitchFamily="34" charset="0"/>
            </a:endParaRPr>
          </a:p>
          <a:p>
            <a:pPr lvl="0" algn="ctr">
              <a:spcBef>
                <a:spcPts val="0"/>
              </a:spcBef>
              <a:spcAft>
                <a:spcPts val="1800"/>
              </a:spcAft>
            </a:pPr>
            <a:br>
              <a:rPr lang="en-US" sz="3600" dirty="0">
                <a:solidFill>
                  <a:srgbClr val="7F7F7F"/>
                </a:solidFill>
                <a:latin typeface="Calibri" panose="020F0502020204030204" pitchFamily="34" charset="0"/>
                <a:cs typeface="Calibri" panose="020F0502020204030204" pitchFamily="34" charset="0"/>
              </a:rPr>
            </a:br>
            <a:r>
              <a:rPr lang="en-US" sz="3600" dirty="0">
                <a:solidFill>
                  <a:srgbClr val="7F7F7F"/>
                </a:solidFill>
                <a:latin typeface="Calibri" panose="020F0502020204030204" pitchFamily="34" charset="0"/>
                <a:cs typeface="Calibri" panose="020F0502020204030204" pitchFamily="34" charset="0"/>
              </a:rPr>
              <a:t>[This sidebar area does not print.]</a:t>
            </a:r>
            <a:endParaRPr lang="en-US" sz="3600" dirty="0">
              <a:solidFill>
                <a:srgbClr val="7F7F7F"/>
              </a:solidFill>
              <a:latin typeface="Calibri" panose="020F0502020204030204" pitchFamily="34" charset="0"/>
              <a:cs typeface="Calibri" panose="020F0502020204030204" pitchFamily="34" charset="0"/>
            </a:endParaRPr>
          </a:p>
        </p:txBody>
      </p:sp>
      <p:grpSp>
        <p:nvGrpSpPr>
          <p:cNvPr id="12" name="Group 11"/>
          <p:cNvGrpSpPr/>
          <p:nvPr userDrawn="1"/>
        </p:nvGrpSpPr>
        <p:grpSpPr>
          <a:xfrm>
            <a:off x="44805600" y="0"/>
            <a:ext cx="9601200" cy="329184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10" rtl="0" eaLnBrk="1" latinLnBrk="0" hangingPunct="1">
                <a:defRPr sz="7260" kern="1200">
                  <a:solidFill>
                    <a:schemeClr val="lt1"/>
                  </a:solidFill>
                  <a:latin typeface="+mn-lt"/>
                  <a:ea typeface="+mn-ea"/>
                  <a:cs typeface="+mn-cs"/>
                </a:defRPr>
              </a:lvl1pPr>
              <a:lvl2pPr marL="1843405" algn="l" defTabSz="3686810" rtl="0" eaLnBrk="1" latinLnBrk="0" hangingPunct="1">
                <a:defRPr sz="7260" kern="1200">
                  <a:solidFill>
                    <a:schemeClr val="lt1"/>
                  </a:solidFill>
                  <a:latin typeface="+mn-lt"/>
                  <a:ea typeface="+mn-ea"/>
                  <a:cs typeface="+mn-cs"/>
                </a:defRPr>
              </a:lvl2pPr>
              <a:lvl3pPr marL="3686810" algn="l" defTabSz="3686810" rtl="0" eaLnBrk="1" latinLnBrk="0" hangingPunct="1">
                <a:defRPr sz="7260" kern="1200">
                  <a:solidFill>
                    <a:schemeClr val="lt1"/>
                  </a:solidFill>
                  <a:latin typeface="+mn-lt"/>
                  <a:ea typeface="+mn-ea"/>
                  <a:cs typeface="+mn-cs"/>
                </a:defRPr>
              </a:lvl3pPr>
              <a:lvl4pPr marL="5530215" algn="l" defTabSz="3686810" rtl="0" eaLnBrk="1" latinLnBrk="0" hangingPunct="1">
                <a:defRPr sz="7260" kern="1200">
                  <a:solidFill>
                    <a:schemeClr val="lt1"/>
                  </a:solidFill>
                  <a:latin typeface="+mn-lt"/>
                  <a:ea typeface="+mn-ea"/>
                  <a:cs typeface="+mn-cs"/>
                </a:defRPr>
              </a:lvl4pPr>
              <a:lvl5pPr marL="7373620" algn="l" defTabSz="3686810" rtl="0" eaLnBrk="1" latinLnBrk="0" hangingPunct="1">
                <a:defRPr sz="7260" kern="1200">
                  <a:solidFill>
                    <a:schemeClr val="lt1"/>
                  </a:solidFill>
                  <a:latin typeface="+mn-lt"/>
                  <a:ea typeface="+mn-ea"/>
                  <a:cs typeface="+mn-cs"/>
                </a:defRPr>
              </a:lvl5pPr>
              <a:lvl6pPr marL="9217025" algn="l" defTabSz="3686810" rtl="0" eaLnBrk="1" latinLnBrk="0" hangingPunct="1">
                <a:defRPr sz="7260" kern="1200">
                  <a:solidFill>
                    <a:schemeClr val="lt1"/>
                  </a:solidFill>
                  <a:latin typeface="+mn-lt"/>
                  <a:ea typeface="+mn-ea"/>
                  <a:cs typeface="+mn-cs"/>
                </a:defRPr>
              </a:lvl6pPr>
              <a:lvl7pPr marL="11060430" algn="l" defTabSz="3686810" rtl="0" eaLnBrk="1" latinLnBrk="0" hangingPunct="1">
                <a:defRPr sz="7260" kern="1200">
                  <a:solidFill>
                    <a:schemeClr val="lt1"/>
                  </a:solidFill>
                  <a:latin typeface="+mn-lt"/>
                  <a:ea typeface="+mn-ea"/>
                  <a:cs typeface="+mn-cs"/>
                </a:defRPr>
              </a:lvl7pPr>
              <a:lvl8pPr marL="12903835" algn="l" defTabSz="3686810" rtl="0" eaLnBrk="1" latinLnBrk="0" hangingPunct="1">
                <a:defRPr sz="7260" kern="1200">
                  <a:solidFill>
                    <a:schemeClr val="lt1"/>
                  </a:solidFill>
                  <a:latin typeface="+mn-lt"/>
                  <a:ea typeface="+mn-ea"/>
                  <a:cs typeface="+mn-cs"/>
                </a:defRPr>
              </a:lvl8pPr>
              <a:lvl9pPr marL="14747240" algn="l" defTabSz="3686810" rtl="0" eaLnBrk="1" latinLnBrk="0" hangingPunct="1">
                <a:defRPr sz="7260" kern="1200">
                  <a:solidFill>
                    <a:schemeClr val="lt1"/>
                  </a:solidFill>
                  <a:latin typeface="+mn-lt"/>
                  <a:ea typeface="+mn-ea"/>
                  <a:cs typeface="+mn-cs"/>
                </a:defRPr>
              </a:lvl9pPr>
            </a:lstStyle>
            <a:p>
              <a:pPr lvl="0">
                <a:spcBef>
                  <a:spcPts val="0"/>
                </a:spcBef>
                <a:spcAft>
                  <a:spcPts val="1800"/>
                </a:spcAft>
              </a:pPr>
              <a:r>
                <a:rPr lang="en-US" sz="7200" dirty="0">
                  <a:solidFill>
                    <a:schemeClr val="bg1">
                      <a:lumMod val="50000"/>
                    </a:schemeClr>
                  </a:solidFill>
                  <a:latin typeface="Calibri" panose="020F0502020204030204" pitchFamily="34" charset="0"/>
                  <a:cs typeface="Calibri" panose="020F0502020204030204" pitchFamily="34" charset="0"/>
                </a:rPr>
                <a:t>Change</a:t>
              </a:r>
              <a:r>
                <a:rPr lang="en-US" sz="7200" baseline="0" dirty="0">
                  <a:solidFill>
                    <a:schemeClr val="bg1">
                      <a:lumMod val="50000"/>
                    </a:schemeClr>
                  </a:solidFill>
                  <a:latin typeface="Calibri" panose="020F0502020204030204" pitchFamily="34" charset="0"/>
                  <a:cs typeface="Calibri" panose="020F0502020204030204" pitchFamily="34" charset="0"/>
                </a:rPr>
                <a:t> Color Theme</a:t>
              </a:r>
              <a:r>
                <a:rPr lang="en-US" sz="7200" dirty="0">
                  <a:solidFill>
                    <a:schemeClr val="bg1">
                      <a:lumMod val="50000"/>
                    </a:schemeClr>
                  </a:solidFill>
                  <a:latin typeface="Calibri" panose="020F0502020204030204" pitchFamily="34" charset="0"/>
                  <a:cs typeface="Calibri" panose="020F0502020204030204" pitchFamily="34" charset="0"/>
                </a:rPr>
                <a:t>:</a:t>
              </a:r>
              <a:endParaRPr sz="720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anose="020F0502020204030204" pitchFamily="34" charset="0"/>
                  <a:cs typeface="Calibri" panose="020F0502020204030204" pitchFamily="34" charset="0"/>
                </a:rPr>
                <a:t>This template is designed to use the built-in color themes in</a:t>
              </a:r>
              <a:r>
                <a:rPr lang="en-US" sz="4900" baseline="0" dirty="0">
                  <a:solidFill>
                    <a:schemeClr val="bg1">
                      <a:lumMod val="50000"/>
                    </a:schemeClr>
                  </a:solidFill>
                  <a:latin typeface="Calibri" panose="020F0502020204030204" pitchFamily="34" charset="0"/>
                  <a:cs typeface="Calibri" panose="020F0502020204030204" pitchFamily="34" charset="0"/>
                </a:rPr>
                <a:t> the newer versions of PowerPoint.</a:t>
              </a: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anose="020F0502020204030204" pitchFamily="34" charset="0"/>
                  <a:cs typeface="Calibri" panose="020F0502020204030204" pitchFamily="34" charset="0"/>
                </a:rPr>
                <a:t>To change the color theme, select the </a:t>
              </a:r>
              <a:r>
                <a:rPr lang="en-US" sz="4900" b="1" baseline="0" dirty="0">
                  <a:solidFill>
                    <a:schemeClr val="bg1">
                      <a:lumMod val="50000"/>
                    </a:schemeClr>
                  </a:solidFill>
                  <a:latin typeface="Calibri" panose="020F0502020204030204" pitchFamily="34" charset="0"/>
                  <a:cs typeface="Calibri" panose="020F0502020204030204" pitchFamily="34" charset="0"/>
                </a:rPr>
                <a:t>Design</a:t>
              </a:r>
              <a:r>
                <a:rPr lang="en-US" sz="4900" baseline="0" dirty="0">
                  <a:solidFill>
                    <a:schemeClr val="bg1">
                      <a:lumMod val="50000"/>
                    </a:schemeClr>
                  </a:solidFill>
                  <a:latin typeface="Calibri" panose="020F0502020204030204" pitchFamily="34" charset="0"/>
                  <a:cs typeface="Calibri" panose="020F0502020204030204" pitchFamily="34" charset="0"/>
                </a:rPr>
                <a:t> tab, then select the </a:t>
              </a:r>
              <a:r>
                <a:rPr lang="en-US" sz="4900" b="1" baseline="0" dirty="0">
                  <a:solidFill>
                    <a:schemeClr val="bg1">
                      <a:lumMod val="50000"/>
                    </a:schemeClr>
                  </a:solidFill>
                  <a:latin typeface="Calibri" panose="020F0502020204030204" pitchFamily="34" charset="0"/>
                  <a:cs typeface="Calibri" panose="020F0502020204030204" pitchFamily="34" charset="0"/>
                </a:rPr>
                <a:t>Colors</a:t>
              </a:r>
              <a:r>
                <a:rPr lang="en-US" sz="4900" baseline="0" dirty="0">
                  <a:solidFill>
                    <a:schemeClr val="bg1">
                      <a:lumMod val="50000"/>
                    </a:schemeClr>
                  </a:solidFill>
                  <a:latin typeface="Calibri" panose="020F0502020204030204" pitchFamily="34" charset="0"/>
                  <a:cs typeface="Calibri" panose="020F0502020204030204" pitchFamily="34" charset="0"/>
                </a:rPr>
                <a:t> drop-down list.</a:t>
              </a: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anose="020F0502020204030204" pitchFamily="34" charset="0"/>
                  <a:cs typeface="Calibri" panose="020F0502020204030204" pitchFamily="34" charset="0"/>
                </a:rPr>
                <a:t>The default color theme for this template is “Office”, so you can always return to that after trying some of the alternatives.</a:t>
              </a: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r>
                <a:rPr lang="en-US" sz="7200" dirty="0">
                  <a:solidFill>
                    <a:schemeClr val="bg1">
                      <a:lumMod val="50000"/>
                    </a:schemeClr>
                  </a:solidFill>
                  <a:latin typeface="Calibri" panose="020F0502020204030204" pitchFamily="34" charset="0"/>
                  <a:cs typeface="Calibri" panose="020F0502020204030204" pitchFamily="34" charset="0"/>
                </a:rPr>
                <a:t>Printing Your Poster:</a:t>
              </a:r>
              <a:endParaRPr lang="en-US" sz="720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anose="020F0502020204030204" pitchFamily="34" charset="0"/>
                  <a:cs typeface="Calibri" panose="020F0502020204030204" pitchFamily="34" charset="0"/>
                </a:rPr>
                <a:t>Once your poster file is ready, visit</a:t>
              </a:r>
              <a:r>
                <a:rPr lang="en-US" sz="4900" baseline="0" dirty="0">
                  <a:solidFill>
                    <a:schemeClr val="bg1">
                      <a:lumMod val="50000"/>
                    </a:schemeClr>
                  </a:solidFill>
                  <a:latin typeface="Calibri" panose="020F0502020204030204" pitchFamily="34" charset="0"/>
                  <a:cs typeface="Calibri" panose="020F0502020204030204" pitchFamily="34" charset="0"/>
                </a:rPr>
                <a:t> </a:t>
              </a:r>
              <a:r>
                <a:rPr lang="en-US" sz="4900" b="1" baseline="0" dirty="0">
                  <a:solidFill>
                    <a:schemeClr val="bg1">
                      <a:lumMod val="50000"/>
                    </a:schemeClr>
                  </a:solidFill>
                  <a:latin typeface="Calibri" panose="020F0502020204030204" pitchFamily="34" charset="0"/>
                  <a:cs typeface="Calibri" panose="020F0502020204030204" pitchFamily="34" charset="0"/>
                </a:rPr>
                <a:t>www.genigraphics.com</a:t>
              </a:r>
              <a:r>
                <a:rPr lang="en-US" sz="4900" baseline="0" dirty="0">
                  <a:solidFill>
                    <a:schemeClr val="bg1">
                      <a:lumMod val="50000"/>
                    </a:schemeClr>
                  </a:solidFill>
                  <a:latin typeface="Calibri" panose="020F0502020204030204" pitchFamily="34" charset="0"/>
                  <a:cs typeface="Calibri" panose="020F0502020204030204" pitchFamily="34" charset="0"/>
                </a:rPr>
                <a:t> to order a high-quality, affordable poster print. Every order receives a free design review and we can deliver as fast as next business day within the US and Canada. </a:t>
              </a: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anose="020F0502020204030204" pitchFamily="34" charset="0"/>
                  <a:cs typeface="Calibri" panose="020F0502020204030204" pitchFamily="34" charset="0"/>
                </a:rPr>
                <a:t>Genigraphics® has been producing output from PowerPoint® longer than anyone in the industry; dating back to when we helped Microsoft® design the PowerPoint® software. </a:t>
              </a: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0"/>
                </a:spcAft>
              </a:pP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r>
                <a:rPr lang="en-US" sz="4900" baseline="0" dirty="0">
                  <a:solidFill>
                    <a:schemeClr val="bg1">
                      <a:lumMod val="50000"/>
                    </a:schemeClr>
                  </a:solidFill>
                  <a:latin typeface="Calibri" panose="020F0502020204030204" pitchFamily="34" charset="0"/>
                  <a:cs typeface="Calibri" panose="020F0502020204030204" pitchFamily="34" charset="0"/>
                </a:rPr>
                <a:t>US and Canada:  1-800-790-4001</a:t>
              </a:r>
              <a:br>
                <a:rPr lang="en-US" sz="4900" baseline="0" dirty="0">
                  <a:solidFill>
                    <a:schemeClr val="bg1">
                      <a:lumMod val="50000"/>
                    </a:schemeClr>
                  </a:solidFill>
                  <a:latin typeface="Calibri" panose="020F0502020204030204" pitchFamily="34" charset="0"/>
                  <a:cs typeface="Calibri" panose="020F0502020204030204" pitchFamily="34" charset="0"/>
                </a:rPr>
              </a:br>
              <a:r>
                <a:rPr lang="en-US" sz="4900" baseline="0" dirty="0">
                  <a:solidFill>
                    <a:schemeClr val="bg1">
                      <a:lumMod val="50000"/>
                    </a:schemeClr>
                  </a:solidFill>
                  <a:latin typeface="Calibri" panose="020F0502020204030204" pitchFamily="34" charset="0"/>
                  <a:cs typeface="Calibri" panose="020F0502020204030204" pitchFamily="34" charset="0"/>
                </a:rPr>
                <a:t>Email: info@genigraphics.com</a:t>
              </a:r>
              <a:endParaRPr lang="en-US" sz="4900" baseline="0"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br>
                <a:rPr lang="en-US" sz="3600" dirty="0">
                  <a:solidFill>
                    <a:schemeClr val="bg1">
                      <a:lumMod val="50000"/>
                    </a:schemeClr>
                  </a:solidFill>
                  <a:latin typeface="Calibri" panose="020F0502020204030204" pitchFamily="34" charset="0"/>
                  <a:cs typeface="Calibri" panose="020F0502020204030204" pitchFamily="34" charset="0"/>
                </a:rPr>
              </a:br>
              <a:r>
                <a:rPr lang="en-US" sz="3600" dirty="0">
                  <a:solidFill>
                    <a:schemeClr val="bg1">
                      <a:lumMod val="50000"/>
                    </a:schemeClr>
                  </a:solidFill>
                  <a:latin typeface="Calibri" panose="020F0502020204030204" pitchFamily="34" charset="0"/>
                  <a:cs typeface="Calibri" panose="020F0502020204030204" pitchFamily="34" charset="0"/>
                </a:rPr>
                <a:t>[This sidebar area does not print.]</a:t>
              </a:r>
              <a:endParaRPr lang="en-US" sz="3600" dirty="0">
                <a:solidFill>
                  <a:schemeClr val="bg1">
                    <a:lumMod val="50000"/>
                  </a:schemeClr>
                </a:solidFill>
                <a:latin typeface="Calibri" panose="020F0502020204030204" pitchFamily="34" charset="0"/>
                <a:cs typeface="Calibri" panose="020F0502020204030204" pitchFamily="34" charset="0"/>
              </a:endParaRP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404800" y="32613600"/>
            <a:ext cx="5297435" cy="1859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3291840" rtl="0" eaLnBrk="1" latinLnBrk="0" hangingPunct="1">
        <a:lnSpc>
          <a:spcPct val="90000"/>
        </a:lnSpc>
        <a:spcBef>
          <a:spcPct val="0"/>
        </a:spcBef>
        <a:buNone/>
        <a:defRPr sz="8000" b="0" kern="1200">
          <a:solidFill>
            <a:schemeClr val="tx1"/>
          </a:solidFill>
          <a:latin typeface="Calibri" panose="020F0502020204030204" pitchFamily="34" charset="0"/>
          <a:ea typeface="+mj-ea"/>
          <a:cs typeface="Calibri" panose="020F0502020204030204" pitchFamily="34" charset="0"/>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800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660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54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100000">
              <a:schemeClr val="accent1">
                <a:alpha val="27000"/>
                <a:lumMod val="0"/>
                <a:lumOff val="10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8229600" y="600164"/>
            <a:ext cx="27432000" cy="1708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342842" rIns="137137" bIns="342842" anchor="ctr" anchorCtr="0">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IN" sz="6600" b="1" i="0" dirty="0">
                <a:solidFill>
                  <a:srgbClr val="D1D5DB"/>
                </a:solidFill>
                <a:effectLst/>
                <a:latin typeface="Söhne"/>
              </a:rPr>
              <a:t>Global CO2 Emissions: A Comprehensive Analysis (1990-2019)</a:t>
            </a:r>
            <a:endParaRPr lang="en-US" sz="6600" b="1" dirty="0">
              <a:solidFill>
                <a:schemeClr val="bg1"/>
              </a:solidFill>
              <a:latin typeface="+mn-lt"/>
            </a:endParaRPr>
          </a:p>
        </p:txBody>
      </p:sp>
      <p:sp>
        <p:nvSpPr>
          <p:cNvPr id="5" name="Text Box 123"/>
          <p:cNvSpPr txBox="1">
            <a:spLocks noChangeArrowheads="1"/>
          </p:cNvSpPr>
          <p:nvPr/>
        </p:nvSpPr>
        <p:spPr bwMode="auto">
          <a:xfrm>
            <a:off x="8229600" y="2400300"/>
            <a:ext cx="274320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137137" rIns="137137" bIns="137137" anchor="ctr" anchorCtr="0"/>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endParaRPr lang="en-US" sz="4000" dirty="0">
              <a:solidFill>
                <a:schemeClr val="bg1"/>
              </a:solidFill>
              <a:latin typeface="+mn-lt"/>
            </a:endParaRPr>
          </a:p>
        </p:txBody>
      </p:sp>
      <p:sp>
        <p:nvSpPr>
          <p:cNvPr id="24" name="TextBox 23"/>
          <p:cNvSpPr txBox="1"/>
          <p:nvPr/>
        </p:nvSpPr>
        <p:spPr>
          <a:xfrm>
            <a:off x="1706881" y="30038039"/>
            <a:ext cx="12923519" cy="929005"/>
          </a:xfrm>
          <a:prstGeom prst="rect">
            <a:avLst/>
          </a:prstGeom>
          <a:noFill/>
        </p:spPr>
        <p:txBody>
          <a:bodyPr wrap="square" lIns="68568" tIns="34284" rIns="68568" bIns="34284" rtlCol="0">
            <a:spAutoFit/>
          </a:bodyPr>
          <a:lstStyle/>
          <a:p>
            <a:r>
              <a:rPr lang="en-IN" altLang="en-US" sz="2800" dirty="0"/>
              <a:t>Name : Tirukatchi Anuhya</a:t>
            </a:r>
            <a:endParaRPr lang="en-US" sz="2800" dirty="0"/>
          </a:p>
          <a:p>
            <a:r>
              <a:rPr lang="en-IN" altLang="en-US" sz="2800" dirty="0"/>
              <a:t>22096593</a:t>
            </a:r>
            <a:endParaRPr lang="en-US" sz="2800" dirty="0"/>
          </a:p>
        </p:txBody>
      </p:sp>
      <p:sp>
        <p:nvSpPr>
          <p:cNvPr id="26" name="TextBox 25"/>
          <p:cNvSpPr txBox="1"/>
          <p:nvPr/>
        </p:nvSpPr>
        <p:spPr>
          <a:xfrm>
            <a:off x="21945600" y="30038039"/>
            <a:ext cx="19507200" cy="628015"/>
          </a:xfrm>
          <a:prstGeom prst="rect">
            <a:avLst/>
          </a:prstGeom>
          <a:noFill/>
        </p:spPr>
        <p:txBody>
          <a:bodyPr wrap="square" lIns="68568" tIns="68568" rIns="68568" bIns="68568" numCol="1" spcCol="342842" rtlCol="0">
            <a:spAutoFit/>
          </a:bodyPr>
          <a:lstStyle/>
          <a:p>
            <a:pPr indent="0">
              <a:buFont typeface="+mj-lt"/>
              <a:buNone/>
            </a:pPr>
            <a:r>
              <a:rPr lang="en-US" sz="1600" dirty="0"/>
              <a:t> </a:t>
            </a:r>
            <a:endParaRPr lang="en-US" sz="1600" dirty="0"/>
          </a:p>
          <a:p>
            <a:pPr indent="0">
              <a:buFont typeface="+mj-lt"/>
              <a:buNone/>
            </a:pPr>
            <a:r>
              <a:rPr lang="en-US" sz="1600" dirty="0"/>
              <a:t>  </a:t>
            </a:r>
            <a:endParaRPr lang="en-US" sz="1600" dirty="0"/>
          </a:p>
        </p:txBody>
      </p:sp>
      <p:sp>
        <p:nvSpPr>
          <p:cNvPr id="10" name="Text Box 189"/>
          <p:cNvSpPr txBox="1">
            <a:spLocks noChangeArrowheads="1"/>
          </p:cNvSpPr>
          <p:nvPr/>
        </p:nvSpPr>
        <p:spPr bwMode="auto">
          <a:xfrm>
            <a:off x="1414564" y="5206090"/>
            <a:ext cx="13167360" cy="6109318"/>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IN" sz="3500" b="0" i="0" dirty="0">
                <a:solidFill>
                  <a:srgbClr val="000000"/>
                </a:solidFill>
                <a:effectLst/>
                <a:latin typeface="Inter"/>
              </a:rPr>
              <a:t>Join us for a trip through the comple­x world of worldwide carbon emissions with our informative poste­r. It traces the growth of environme­ntal footprints. This educational illustration reveals changing patte­rns and focuses on global CO2 emissions. It offers a de­tailed look at leading contributors, swee­ping across timelines and countries. We­ aim to foster learning and promote sustainability through our pre­sentation. Come along on this engaging path towards a more­ eco-friendly future.</a:t>
            </a:r>
            <a:endParaRPr lang="en-IN" sz="3500" b="0" i="0" dirty="0">
              <a:solidFill>
                <a:srgbClr val="000000"/>
              </a:solidFill>
              <a:effectLst/>
              <a:latin typeface="Inter"/>
            </a:endParaRPr>
          </a:p>
          <a:p>
            <a:pPr eaLnBrk="1" hangingPunct="1"/>
            <a:r>
              <a:rPr lang="en-IN" sz="3500" dirty="0">
                <a:solidFill>
                  <a:srgbClr val="000000"/>
                </a:solidFill>
                <a:latin typeface="Inter"/>
                <a:cs typeface="Calibri" panose="020F0502020204030204" pitchFamily="34" charset="0"/>
              </a:rPr>
              <a:t>Dataset: </a:t>
            </a:r>
            <a:r>
              <a:rPr lang="en-IN" sz="3200" b="0" i="0" dirty="0">
                <a:effectLst/>
                <a:latin typeface="Calibri" panose="020F0502020204030204" pitchFamily="34" charset="0"/>
                <a:cs typeface="Calibri" panose="020F0502020204030204" pitchFamily="34" charset="0"/>
              </a:rPr>
              <a:t>The dataset used in this analysis is from world bank and contains important information about CO2 emissions across different countries over multiple years. </a:t>
            </a:r>
            <a:endParaRPr lang="en-US" sz="3500" dirty="0">
              <a:latin typeface="Calibri" panose="020F0502020204030204" pitchFamily="34" charset="0"/>
              <a:cs typeface="Calibri" panose="020F0502020204030204" pitchFamily="34" charset="0"/>
            </a:endParaRPr>
          </a:p>
        </p:txBody>
      </p:sp>
      <p:sp>
        <p:nvSpPr>
          <p:cNvPr id="32" name="Rectangle 31"/>
          <p:cNvSpPr/>
          <p:nvPr/>
        </p:nvSpPr>
        <p:spPr>
          <a:xfrm>
            <a:off x="1414564" y="447457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Introduction</a:t>
            </a:r>
            <a:endParaRPr lang="en-US" sz="4400" b="1" dirty="0">
              <a:solidFill>
                <a:schemeClr val="bg1"/>
              </a:solidFill>
            </a:endParaRPr>
          </a:p>
        </p:txBody>
      </p:sp>
      <p:sp>
        <p:nvSpPr>
          <p:cNvPr id="15" name="Text Box 194"/>
          <p:cNvSpPr txBox="1">
            <a:spLocks noChangeArrowheads="1"/>
          </p:cNvSpPr>
          <p:nvPr/>
        </p:nvSpPr>
        <p:spPr bwMode="auto">
          <a:xfrm>
            <a:off x="15238631" y="19241323"/>
            <a:ext cx="11695148" cy="6370928"/>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l">
              <a:buFont typeface="Arial" panose="020B0604020202020204" pitchFamily="34" charset="0"/>
              <a:buChar char="•"/>
            </a:pPr>
            <a:r>
              <a:rPr lang="en-IN" sz="3600" b="0" i="0" dirty="0">
                <a:effectLst/>
                <a:latin typeface="Calibri" panose="020F0502020204030204" pitchFamily="34" charset="0"/>
                <a:cs typeface="Calibri" panose="020F0502020204030204" pitchFamily="34" charset="0"/>
              </a:rPr>
              <a:t>Divergent CO2 emission patterns observed with peaks in 2009 and a nadir in 1994. </a:t>
            </a:r>
            <a:endParaRPr lang="en-IN" sz="3600" b="0" i="0" dirty="0">
              <a:effectLst/>
              <a:latin typeface="Calibri" panose="020F0502020204030204" pitchFamily="34" charset="0"/>
              <a:cs typeface="Calibri" panose="020F0502020204030204" pitchFamily="34" charset="0"/>
            </a:endParaRPr>
          </a:p>
          <a:p>
            <a:pPr algn="l">
              <a:buFont typeface="Arial" panose="020B0604020202020204" pitchFamily="34" charset="0"/>
              <a:buChar char="•"/>
            </a:pPr>
            <a:r>
              <a:rPr lang="en-IN" sz="3600" b="0" i="0" dirty="0">
                <a:effectLst/>
                <a:latin typeface="Calibri" panose="020F0502020204030204" pitchFamily="34" charset="0"/>
                <a:cs typeface="Calibri" panose="020F0502020204030204" pitchFamily="34" charset="0"/>
              </a:rPr>
              <a:t>Prominence of affluent oil nations: Qatar and UAE lead in emissions, reflecting abundant fossil fuel resources. </a:t>
            </a:r>
            <a:endParaRPr lang="en-IN" sz="3600" b="0" i="0" dirty="0">
              <a:effectLst/>
              <a:latin typeface="Calibri" panose="020F0502020204030204" pitchFamily="34" charset="0"/>
              <a:cs typeface="Calibri" panose="020F0502020204030204" pitchFamily="34" charset="0"/>
            </a:endParaRPr>
          </a:p>
          <a:p>
            <a:pPr algn="l">
              <a:buFont typeface="Arial" panose="020B0604020202020204" pitchFamily="34" charset="0"/>
              <a:buChar char="•"/>
            </a:pPr>
            <a:r>
              <a:rPr lang="en-IN" sz="3600" b="0" i="0" dirty="0">
                <a:effectLst/>
                <a:latin typeface="Calibri" panose="020F0502020204030204" pitchFamily="34" charset="0"/>
                <a:cs typeface="Calibri" panose="020F0502020204030204" pitchFamily="34" charset="0"/>
              </a:rPr>
              <a:t>Middle East's prevalence: Qatar consistently ranks highest, indicating sustained emissions over nearly two decades.</a:t>
            </a:r>
            <a:endParaRPr lang="en-IN" sz="3600" b="0" i="0" dirty="0">
              <a:effectLst/>
              <a:latin typeface="Calibri" panose="020F0502020204030204" pitchFamily="34" charset="0"/>
              <a:cs typeface="Calibri" panose="020F0502020204030204" pitchFamily="34" charset="0"/>
            </a:endParaRPr>
          </a:p>
          <a:p>
            <a:pPr algn="l">
              <a:buFont typeface="Arial" panose="020B0604020202020204" pitchFamily="34" charset="0"/>
              <a:buChar char="•"/>
            </a:pPr>
            <a:r>
              <a:rPr lang="en-IN" sz="3600" b="0" i="0" dirty="0">
                <a:effectLst/>
                <a:latin typeface="Calibri" panose="020F0502020204030204" pitchFamily="34" charset="0"/>
                <a:cs typeface="Calibri" panose="020F0502020204030204" pitchFamily="34" charset="0"/>
              </a:rPr>
              <a:t> Obstacle in emission reduction: Despite global initiatives, certain countries exhibit continuous or escalating emissions.</a:t>
            </a:r>
            <a:endParaRPr lang="en-IN" sz="3600" b="0" i="0" dirty="0">
              <a:effectLst/>
              <a:latin typeface="Calibri" panose="020F0502020204030204" pitchFamily="34" charset="0"/>
              <a:cs typeface="Calibri" panose="020F0502020204030204" pitchFamily="34" charset="0"/>
            </a:endParaRPr>
          </a:p>
          <a:p>
            <a:pPr algn="l">
              <a:buFont typeface="Arial" panose="020B0604020202020204" pitchFamily="34" charset="0"/>
              <a:buChar char="•"/>
            </a:pPr>
            <a:r>
              <a:rPr lang="en-IN" sz="3600" b="0" i="0" dirty="0">
                <a:effectLst/>
                <a:latin typeface="Calibri" panose="020F0502020204030204" pitchFamily="34" charset="0"/>
                <a:cs typeface="Calibri" panose="020F0502020204030204" pitchFamily="34" charset="0"/>
              </a:rPr>
              <a:t> Imperative for sustainable approaches: Emphasizes the urgency for effective global strategies to combat climate change and foster environmental sustainability.</a:t>
            </a:r>
            <a:endParaRPr lang="en-US" sz="3600" dirty="0">
              <a:latin typeface="Calibri" panose="020F0502020204030204" pitchFamily="34" charset="0"/>
              <a:cs typeface="Calibri" panose="020F0502020204030204" pitchFamily="34" charset="0"/>
            </a:endParaRPr>
          </a:p>
        </p:txBody>
      </p:sp>
      <p:sp>
        <p:nvSpPr>
          <p:cNvPr id="33" name="Rectangle 32"/>
          <p:cNvSpPr/>
          <p:nvPr/>
        </p:nvSpPr>
        <p:spPr>
          <a:xfrm>
            <a:off x="1414563" y="18324090"/>
            <a:ext cx="13226091"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l"/>
            <a:r>
              <a:rPr lang="en-IN" sz="4400" b="1" i="0" dirty="0">
                <a:effectLst/>
                <a:latin typeface="-apple-system"/>
              </a:rPr>
              <a:t>                                      Clustering</a:t>
            </a:r>
            <a:endParaRPr lang="en-IN" sz="4400" b="1" i="0" dirty="0">
              <a:effectLst/>
              <a:latin typeface="-apple-system"/>
            </a:endParaRPr>
          </a:p>
        </p:txBody>
      </p:sp>
      <p:sp>
        <p:nvSpPr>
          <p:cNvPr id="13" name="Text Box 192"/>
          <p:cNvSpPr txBox="1">
            <a:spLocks noChangeArrowheads="1"/>
          </p:cNvSpPr>
          <p:nvPr/>
        </p:nvSpPr>
        <p:spPr bwMode="auto">
          <a:xfrm>
            <a:off x="15279187" y="5173182"/>
            <a:ext cx="11605933" cy="4933811"/>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600" dirty="0">
              <a:latin typeface="Calibri" panose="020F0502020204030204" pitchFamily="34" charset="0"/>
              <a:cs typeface="Calibri" panose="020F0502020204030204" pitchFamily="34" charset="0"/>
            </a:endParaRPr>
          </a:p>
        </p:txBody>
      </p:sp>
      <p:sp>
        <p:nvSpPr>
          <p:cNvPr id="34" name="Rectangle 33"/>
          <p:cNvSpPr/>
          <p:nvPr/>
        </p:nvSpPr>
        <p:spPr>
          <a:xfrm>
            <a:off x="15279187" y="4562580"/>
            <a:ext cx="11612880" cy="632788"/>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l"/>
            <a:r>
              <a:rPr lang="en-IN" sz="4400" b="1" i="0" dirty="0">
                <a:effectLst/>
                <a:latin typeface="-apple-system"/>
              </a:rPr>
              <a:t>           CO2 emissions for the top 5 countries</a:t>
            </a:r>
            <a:endParaRPr lang="en-IN" sz="4400" b="1" i="0" dirty="0">
              <a:effectLst/>
              <a:latin typeface="-apple-system"/>
            </a:endParaRPr>
          </a:p>
        </p:txBody>
      </p:sp>
      <p:grpSp>
        <p:nvGrpSpPr>
          <p:cNvPr id="3" name="Group 2"/>
          <p:cNvGrpSpPr/>
          <p:nvPr/>
        </p:nvGrpSpPr>
        <p:grpSpPr>
          <a:xfrm>
            <a:off x="15320898" y="10503590"/>
            <a:ext cx="11612881" cy="7435296"/>
            <a:chOff x="29260800" y="12646845"/>
            <a:chExt cx="13167360" cy="3987351"/>
          </a:xfrm>
        </p:grpSpPr>
        <p:sp>
          <p:nvSpPr>
            <p:cNvPr id="12" name="Text Box 191"/>
            <p:cNvSpPr txBox="1">
              <a:spLocks noChangeArrowheads="1"/>
            </p:cNvSpPr>
            <p:nvPr/>
          </p:nvSpPr>
          <p:spPr bwMode="auto">
            <a:xfrm>
              <a:off x="29260800" y="13075920"/>
              <a:ext cx="13167360" cy="3558276"/>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p:txBody>
        </p:sp>
        <p:sp>
          <p:nvSpPr>
            <p:cNvPr id="35" name="Rectangle 34"/>
            <p:cNvSpPr/>
            <p:nvPr/>
          </p:nvSpPr>
          <p:spPr>
            <a:xfrm>
              <a:off x="29260800" y="12646845"/>
              <a:ext cx="13167360" cy="429074"/>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l"/>
              <a:r>
                <a:rPr lang="en-IN" sz="4400" b="1" i="0" dirty="0">
                  <a:effectLst/>
                  <a:latin typeface="-apple-system"/>
                </a:rPr>
                <a:t>    </a:t>
              </a:r>
              <a:r>
                <a:rPr lang="en-IN" sz="4400" b="1" dirty="0">
                  <a:latin typeface="-apple-system"/>
                </a:rPr>
                <a:t>C</a:t>
              </a:r>
              <a:r>
                <a:rPr lang="en-IN" sz="4400" b="1" i="0" dirty="0">
                  <a:effectLst/>
                  <a:latin typeface="-apple-system"/>
                </a:rPr>
                <a:t>ountry with most CO2 value for each Year</a:t>
              </a:r>
              <a:endParaRPr lang="en-IN" sz="4400" b="1" i="0" dirty="0">
                <a:effectLst/>
                <a:latin typeface="-apple-system"/>
              </a:endParaRPr>
            </a:p>
          </p:txBody>
        </p:sp>
      </p:grpSp>
      <p:grpSp>
        <p:nvGrpSpPr>
          <p:cNvPr id="2" name="Group 1"/>
          <p:cNvGrpSpPr/>
          <p:nvPr/>
        </p:nvGrpSpPr>
        <p:grpSpPr>
          <a:xfrm>
            <a:off x="27684547" y="20304754"/>
            <a:ext cx="13167360" cy="4332459"/>
            <a:chOff x="29260800" y="20482560"/>
            <a:chExt cx="13167360" cy="4332459"/>
          </a:xfrm>
        </p:grpSpPr>
        <p:sp>
          <p:nvSpPr>
            <p:cNvPr id="14" name="Text Box 193"/>
            <p:cNvSpPr txBox="1">
              <a:spLocks noChangeArrowheads="1"/>
            </p:cNvSpPr>
            <p:nvPr/>
          </p:nvSpPr>
          <p:spPr bwMode="auto">
            <a:xfrm>
              <a:off x="29260800" y="21214080"/>
              <a:ext cx="13167360" cy="3600939"/>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l"/>
              <a:r>
                <a:rPr lang="en-IN" sz="3600" b="0" i="0" dirty="0">
                  <a:effectLst/>
                  <a:latin typeface="Söhne"/>
                </a:rPr>
                <a:t>Employing cubic polynomial regression, we tailored a curve to our dataset, forecasting the next decade. This technique optimizes parameters, revealing trends and predicting future values with a versatile tool that accommodates complex patterns, as depicted by our model showcasing a 30-year prediction with a confidence interval.</a:t>
              </a:r>
              <a:endParaRPr lang="en-IN" sz="3600" b="0" i="0" dirty="0">
                <a:effectLst/>
                <a:latin typeface="Söhne"/>
              </a:endParaRPr>
            </a:p>
          </p:txBody>
        </p:sp>
        <p:sp>
          <p:nvSpPr>
            <p:cNvPr id="36" name="Rectangle 35"/>
            <p:cNvSpPr/>
            <p:nvPr/>
          </p:nvSpPr>
          <p:spPr>
            <a:xfrm>
              <a:off x="29260800" y="2048256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Model fitting</a:t>
              </a:r>
              <a:endParaRPr lang="en-US" sz="4400" b="1" dirty="0">
                <a:solidFill>
                  <a:schemeClr val="bg1"/>
                </a:solidFill>
              </a:endParaRPr>
            </a:p>
          </p:txBody>
        </p:sp>
      </p:grpSp>
      <p:sp>
        <p:nvSpPr>
          <p:cNvPr id="11" name="Text Box 190"/>
          <p:cNvSpPr txBox="1">
            <a:spLocks noChangeArrowheads="1"/>
          </p:cNvSpPr>
          <p:nvPr/>
        </p:nvSpPr>
        <p:spPr bwMode="auto">
          <a:xfrm>
            <a:off x="9267667" y="19055609"/>
            <a:ext cx="5364000" cy="7452000"/>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IN" sz="3600" b="0" i="0" dirty="0">
                <a:effectLst/>
                <a:latin typeface="Calibri" panose="020F0502020204030204" pitchFamily="34" charset="0"/>
                <a:cs typeface="Calibri" panose="020F0502020204030204" pitchFamily="34" charset="0"/>
              </a:rPr>
              <a:t>We use </a:t>
            </a:r>
            <a:r>
              <a:rPr lang="en-IN" sz="3600" b="0" i="0" dirty="0" err="1">
                <a:effectLst/>
                <a:latin typeface="Calibri" panose="020F0502020204030204" pitchFamily="34" charset="0"/>
                <a:cs typeface="Calibri" panose="020F0502020204030204" pitchFamily="34" charset="0"/>
              </a:rPr>
              <a:t>KMeans</a:t>
            </a:r>
            <a:r>
              <a:rPr lang="en-IN" sz="3600" b="0" i="0" dirty="0">
                <a:effectLst/>
                <a:latin typeface="Calibri" panose="020F0502020204030204" pitchFamily="34" charset="0"/>
                <a:cs typeface="Calibri" panose="020F0502020204030204" pitchFamily="34" charset="0"/>
              </a:rPr>
              <a:t> clustering to create pairwise scatter plots for key features, for the year 1990, 1995, 2000, 2010 and with n=3, we case see that how all the 3 clusters are separated, here each datapoint represents a country. </a:t>
            </a:r>
            <a:endParaRPr lang="en-US" sz="3600" dirty="0">
              <a:latin typeface="Calibri" panose="020F0502020204030204" pitchFamily="34" charset="0"/>
              <a:cs typeface="Calibri" panose="020F0502020204030204" pitchFamily="34" charset="0"/>
            </a:endParaRPr>
          </a:p>
        </p:txBody>
      </p:sp>
      <p:sp>
        <p:nvSpPr>
          <p:cNvPr id="45" name="Rectangle 44"/>
          <p:cNvSpPr/>
          <p:nvPr/>
        </p:nvSpPr>
        <p:spPr>
          <a:xfrm>
            <a:off x="15238631" y="18598872"/>
            <a:ext cx="11695148" cy="562177"/>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Observations!!!</a:t>
            </a:r>
            <a:endParaRPr lang="en-US" sz="4400" b="1" dirty="0">
              <a:solidFill>
                <a:schemeClr val="bg1"/>
              </a:solidFill>
            </a:endParaRPr>
          </a:p>
        </p:txBody>
      </p:sp>
      <p:pic>
        <p:nvPicPr>
          <p:cNvPr id="17" name="Picture 16" descr="A graph showing the growth of the company&#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684548" y="5832070"/>
            <a:ext cx="12549051" cy="3432869"/>
          </a:xfrm>
          <a:prstGeom prst="rect">
            <a:avLst/>
          </a:prstGeom>
        </p:spPr>
      </p:pic>
      <p:grpSp>
        <p:nvGrpSpPr>
          <p:cNvPr id="18" name="Group 17"/>
          <p:cNvGrpSpPr/>
          <p:nvPr/>
        </p:nvGrpSpPr>
        <p:grpSpPr>
          <a:xfrm>
            <a:off x="27584400" y="4515570"/>
            <a:ext cx="14833506" cy="8043546"/>
            <a:chOff x="29260800" y="12344400"/>
            <a:chExt cx="13167360" cy="4694992"/>
          </a:xfrm>
        </p:grpSpPr>
        <p:sp>
          <p:nvSpPr>
            <p:cNvPr id="19" name="Text Box 191"/>
            <p:cNvSpPr txBox="1">
              <a:spLocks noChangeArrowheads="1"/>
            </p:cNvSpPr>
            <p:nvPr/>
          </p:nvSpPr>
          <p:spPr bwMode="auto">
            <a:xfrm>
              <a:off x="29260800" y="13075920"/>
              <a:ext cx="13167360" cy="3963472"/>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p:txBody>
        </p:sp>
        <p:sp>
          <p:nvSpPr>
            <p:cNvPr id="20" name="Rectangle 19"/>
            <p:cNvSpPr/>
            <p:nvPr/>
          </p:nvSpPr>
          <p:spPr>
            <a:xfrm>
              <a:off x="29260800" y="1234440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CO2 Value by year</a:t>
              </a:r>
              <a:endParaRPr lang="en-US" sz="4400" b="1" dirty="0">
                <a:solidFill>
                  <a:schemeClr val="bg1"/>
                </a:solidFill>
              </a:endParaRPr>
            </a:p>
          </p:txBody>
        </p:sp>
      </p:grpSp>
      <p:sp>
        <p:nvSpPr>
          <p:cNvPr id="43" name="Text Box 189"/>
          <p:cNvSpPr txBox="1">
            <a:spLocks noChangeArrowheads="1"/>
          </p:cNvSpPr>
          <p:nvPr/>
        </p:nvSpPr>
        <p:spPr bwMode="auto">
          <a:xfrm>
            <a:off x="1473294" y="12259743"/>
            <a:ext cx="13167360" cy="5816931"/>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IN" sz="3600" b="0" i="0" dirty="0">
                <a:effectLst/>
                <a:latin typeface="Calibri" panose="020F0502020204030204" pitchFamily="34" charset="0"/>
                <a:cs typeface="Calibri" panose="020F0502020204030204" pitchFamily="34" charset="0"/>
              </a:rPr>
              <a:t>Carbon dioxide emissions primarily arise from burning fossil fuels for energy, deforestation, industrial processes, and agricultural activities. These human-driven factors contribute to climate change by increasing greenhouse gas concentrations in the atmosphere.</a:t>
            </a:r>
            <a:endParaRPr lang="en-IN" sz="3600" b="0" i="0" dirty="0">
              <a:effectLst/>
              <a:latin typeface="Calibri" panose="020F0502020204030204" pitchFamily="34" charset="0"/>
              <a:cs typeface="Calibri" panose="020F0502020204030204" pitchFamily="34" charset="0"/>
            </a:endParaRPr>
          </a:p>
          <a:p>
            <a:pPr eaLnBrk="1" hangingPunct="1"/>
            <a:endParaRPr lang="en-IN" sz="3600" dirty="0">
              <a:latin typeface="Calibri" panose="020F0502020204030204" pitchFamily="34" charset="0"/>
              <a:cs typeface="Calibri" panose="020F0502020204030204" pitchFamily="34" charset="0"/>
            </a:endParaRPr>
          </a:p>
          <a:p>
            <a:pPr eaLnBrk="1" hangingPunct="1"/>
            <a:endParaRPr lang="en-IN" sz="3600" dirty="0">
              <a:latin typeface="Calibri" panose="020F0502020204030204" pitchFamily="34" charset="0"/>
              <a:cs typeface="Calibri" panose="020F0502020204030204" pitchFamily="34" charset="0"/>
            </a:endParaRPr>
          </a:p>
          <a:p>
            <a:pPr eaLnBrk="1" hangingPunct="1"/>
            <a:endParaRPr lang="en-IN" sz="3600" dirty="0">
              <a:latin typeface="Calibri" panose="020F0502020204030204" pitchFamily="34" charset="0"/>
              <a:cs typeface="Calibri" panose="020F0502020204030204" pitchFamily="34" charset="0"/>
            </a:endParaRPr>
          </a:p>
          <a:p>
            <a:pPr eaLnBrk="1" hangingPunct="1"/>
            <a:endParaRPr lang="en-IN" sz="3600" dirty="0">
              <a:latin typeface="Calibri" panose="020F0502020204030204" pitchFamily="34" charset="0"/>
              <a:cs typeface="Calibri" panose="020F0502020204030204" pitchFamily="34" charset="0"/>
            </a:endParaRPr>
          </a:p>
          <a:p>
            <a:pPr eaLnBrk="1" hangingPunct="1"/>
            <a:endParaRPr lang="en-IN" sz="3600" dirty="0">
              <a:latin typeface="Calibri" panose="020F0502020204030204" pitchFamily="34" charset="0"/>
              <a:cs typeface="Calibri" panose="020F0502020204030204" pitchFamily="34" charset="0"/>
            </a:endParaRPr>
          </a:p>
          <a:p>
            <a:pPr eaLnBrk="1" hangingPunct="1"/>
            <a:endParaRPr lang="en-US" sz="3600" dirty="0">
              <a:latin typeface="Calibri" panose="020F0502020204030204" pitchFamily="34" charset="0"/>
              <a:cs typeface="Calibri" panose="020F0502020204030204" pitchFamily="34" charset="0"/>
            </a:endParaRPr>
          </a:p>
        </p:txBody>
      </p:sp>
      <p:sp>
        <p:nvSpPr>
          <p:cNvPr id="46" name="Rectangle 45"/>
          <p:cNvSpPr/>
          <p:nvPr/>
        </p:nvSpPr>
        <p:spPr>
          <a:xfrm>
            <a:off x="1463040" y="11450263"/>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Origin of CO2 emissions….</a:t>
            </a:r>
            <a:endParaRPr lang="en-US" sz="4400" b="1" dirty="0">
              <a:solidFill>
                <a:schemeClr val="bg1"/>
              </a:solidFill>
            </a:endParaRPr>
          </a:p>
        </p:txBody>
      </p:sp>
      <p:pic>
        <p:nvPicPr>
          <p:cNvPr id="1026" name="Picture 2" descr="Global Energy-related Emissions: Global energy-related CO2 emissions edged  up to record high in 2022, ET Au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880" y="14999310"/>
            <a:ext cx="4972576" cy="27588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xploring Machine Learning Algorithms for Predicting Carbon Emission Caused  by Light Duty Vehic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5860" y="14941166"/>
            <a:ext cx="5334807" cy="29874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graph of co2 emissions across years&#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84547" y="6075039"/>
            <a:ext cx="9263207" cy="6184703"/>
          </a:xfrm>
          <a:prstGeom prst="rect">
            <a:avLst/>
          </a:prstGeom>
        </p:spPr>
      </p:pic>
      <p:sp>
        <p:nvSpPr>
          <p:cNvPr id="8" name="TextBox 7"/>
          <p:cNvSpPr txBox="1"/>
          <p:nvPr/>
        </p:nvSpPr>
        <p:spPr>
          <a:xfrm>
            <a:off x="36947754" y="6223613"/>
            <a:ext cx="5114646" cy="5478423"/>
          </a:xfrm>
          <a:prstGeom prst="rect">
            <a:avLst/>
          </a:prstGeom>
          <a:noFill/>
        </p:spPr>
        <p:txBody>
          <a:bodyPr wrap="square" rtlCol="0">
            <a:spAutoFit/>
          </a:bodyPr>
          <a:lstStyle/>
          <a:p>
            <a:r>
              <a:rPr lang="en-US" sz="3500" dirty="0"/>
              <a:t>Violin plot depicting the distribution of CO2 emissions for each year. The varying width illustrates the density of emissions most dense being around year 2000, offering insights into the evolving environmental landscape over the years.</a:t>
            </a:r>
            <a:endParaRPr lang="en-US" sz="3500" dirty="0"/>
          </a:p>
        </p:txBody>
      </p:sp>
      <p:pic>
        <p:nvPicPr>
          <p:cNvPr id="16" name="Picture 15" descr="A pie chart with numbers and a number of people&#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65786" y="5279108"/>
            <a:ext cx="6196570" cy="4737631"/>
          </a:xfrm>
          <a:prstGeom prst="rect">
            <a:avLst/>
          </a:prstGeom>
        </p:spPr>
      </p:pic>
      <p:sp>
        <p:nvSpPr>
          <p:cNvPr id="21" name="TextBox 20"/>
          <p:cNvSpPr txBox="1"/>
          <p:nvPr/>
        </p:nvSpPr>
        <p:spPr>
          <a:xfrm>
            <a:off x="38842122" y="2584174"/>
            <a:ext cx="184731" cy="369332"/>
          </a:xfrm>
          <a:prstGeom prst="rect">
            <a:avLst/>
          </a:prstGeom>
          <a:noFill/>
        </p:spPr>
        <p:txBody>
          <a:bodyPr wrap="none" rtlCol="0">
            <a:spAutoFit/>
          </a:bodyPr>
          <a:lstStyle/>
          <a:p>
            <a:endParaRPr lang="en-US" dirty="0"/>
          </a:p>
        </p:txBody>
      </p:sp>
      <p:sp>
        <p:nvSpPr>
          <p:cNvPr id="23" name="TextBox 22"/>
          <p:cNvSpPr txBox="1"/>
          <p:nvPr/>
        </p:nvSpPr>
        <p:spPr>
          <a:xfrm>
            <a:off x="39677009" y="2067339"/>
            <a:ext cx="184731" cy="369332"/>
          </a:xfrm>
          <a:prstGeom prst="rect">
            <a:avLst/>
          </a:prstGeom>
          <a:noFill/>
        </p:spPr>
        <p:txBody>
          <a:bodyPr wrap="none" rtlCol="0">
            <a:spAutoFit/>
          </a:bodyPr>
          <a:lstStyle/>
          <a:p>
            <a:endParaRPr lang="en-US" dirty="0"/>
          </a:p>
        </p:txBody>
      </p:sp>
      <p:sp>
        <p:nvSpPr>
          <p:cNvPr id="29" name="TextBox 28"/>
          <p:cNvSpPr txBox="1"/>
          <p:nvPr/>
        </p:nvSpPr>
        <p:spPr>
          <a:xfrm>
            <a:off x="21648955" y="5270627"/>
            <a:ext cx="5322764" cy="4401205"/>
          </a:xfrm>
          <a:prstGeom prst="rect">
            <a:avLst/>
          </a:prstGeom>
          <a:noFill/>
        </p:spPr>
        <p:txBody>
          <a:bodyPr wrap="square" rtlCol="0">
            <a:spAutoFit/>
          </a:bodyPr>
          <a:lstStyle/>
          <a:p>
            <a:r>
              <a:rPr lang="en-US" sz="3500" dirty="0"/>
              <a:t>In the pie chart, Qatar prominently contributes 29.5%, predominantly due to its status as the leading LNG producer and a relatively small population compared to other nations, emphasizing efficiency.</a:t>
            </a:r>
            <a:endParaRPr lang="en-US" sz="3500" dirty="0"/>
          </a:p>
        </p:txBody>
      </p:sp>
      <p:pic>
        <p:nvPicPr>
          <p:cNvPr id="31" name="Picture 30" descr="A graph of different colored bars&#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1316" y="11425994"/>
            <a:ext cx="11477868" cy="4746623"/>
          </a:xfrm>
          <a:prstGeom prst="rect">
            <a:avLst/>
          </a:prstGeom>
        </p:spPr>
      </p:pic>
      <p:sp>
        <p:nvSpPr>
          <p:cNvPr id="37" name="TextBox 36"/>
          <p:cNvSpPr txBox="1"/>
          <p:nvPr/>
        </p:nvSpPr>
        <p:spPr>
          <a:xfrm>
            <a:off x="15676015" y="16172617"/>
            <a:ext cx="10841585" cy="1169551"/>
          </a:xfrm>
          <a:prstGeom prst="rect">
            <a:avLst/>
          </a:prstGeom>
          <a:noFill/>
        </p:spPr>
        <p:txBody>
          <a:bodyPr wrap="square" rtlCol="0">
            <a:spAutoFit/>
          </a:bodyPr>
          <a:lstStyle/>
          <a:p>
            <a:r>
              <a:rPr lang="en-US" sz="3500" dirty="0"/>
              <a:t>As we can see here as well Qatar Is consistently on top with average of 34.5, with some appearances of UAE.</a:t>
            </a:r>
            <a:endParaRPr lang="en-US" sz="3500" dirty="0"/>
          </a:p>
        </p:txBody>
      </p:sp>
      <p:pic>
        <p:nvPicPr>
          <p:cNvPr id="41" name="Picture 40" descr="A screenshot of a graph&#10;&#10;Description automatically generated"/>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3294" y="19055610"/>
            <a:ext cx="7772400" cy="7508156"/>
          </a:xfrm>
          <a:prstGeom prst="rect">
            <a:avLst/>
          </a:prstGeom>
        </p:spPr>
      </p:pic>
      <p:pic>
        <p:nvPicPr>
          <p:cNvPr id="49" name="Picture 48" descr="A graph of a graph showing the amount of emission&#10;&#10;Description automatically generated with medium confidence"/>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624276" y="12737716"/>
            <a:ext cx="9866123" cy="74263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2925</Words>
  <Application>WPS Presentation</Application>
  <PresentationFormat>Custom</PresentationFormat>
  <Paragraphs>67</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Calibri</vt:lpstr>
      <vt:lpstr>Söhne</vt:lpstr>
      <vt:lpstr>Segoe Print</vt:lpstr>
      <vt:lpstr>Inter</vt:lpstr>
      <vt:lpstr>-apple-system</vt:lpstr>
      <vt:lpstr>Microsoft YaHei</vt:lpstr>
      <vt:lpstr>Arial Unicode MS</vt:lpstr>
      <vt:lpstr>Office Theme</vt:lpstr>
      <vt:lpstr>PowerPoint 演示文稿</vt:lpstr>
    </vt:vector>
  </TitlesOfParts>
  <Company>Genigraphics LLC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Anuhya</cp:lastModifiedBy>
  <cp:revision>106</cp:revision>
  <cp:lastPrinted>2017-11-03T00:56:00Z</cp:lastPrinted>
  <dcterms:created xsi:type="dcterms:W3CDTF">2013-02-10T21:14:00Z</dcterms:created>
  <dcterms:modified xsi:type="dcterms:W3CDTF">2024-01-18T18:06:40Z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4D8A8F2DAFA3455B888071C328EF161E_13</vt:lpwstr>
  </property>
  <property fmtid="{D5CDD505-2E9C-101B-9397-08002B2CF9AE}" pid="3" name="KSOProductBuildVer">
    <vt:lpwstr>1033-12.2.0.13359</vt:lpwstr>
  </property>
</Properties>
</file>